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Raleway" pitchFamily="2" charset="0"/>
      <p:regular r:id="rId10"/>
    </p:embeddedFont>
    <p:embeddedFont>
      <p:font typeface="Roboto" panose="02000000000000000000" pitchFamily="2" charset="0"/>
      <p:regular r:id="rId11"/>
      <p:bold r:id="rId12"/>
    </p:embeddedFont>
    <p:embeddedFont>
      <p:font typeface="Roboto Bold" panose="02000000000000000000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99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667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Reflex — Unified Delivery Workflow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171410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structured, role-aware platform consolidating the full delivery lifecycle for small retailers and logistics teams.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164755"/>
            <a:ext cx="10868745" cy="1918494"/>
          </a:xfrm>
          <a:prstGeom prst="roundRect">
            <a:avLst>
              <a:gd name="adj" fmla="val 362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171105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57887" y="0"/>
                </a:moveTo>
                <a:lnTo>
                  <a:pt x="5428023" y="0"/>
                </a:lnTo>
                <a:lnTo>
                  <a:pt x="5428023" y="952897"/>
                </a:lnTo>
                <a:lnTo>
                  <a:pt x="0" y="952897"/>
                </a:lnTo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833119" y="2336403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2694087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Retailer submits order into the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2171105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370136" y="0"/>
                </a:lnTo>
                <a:arcTo wR="57887" hR="57888" stAng="16200000" swAng="5400000"/>
                <a:lnTo>
                  <a:pt x="5428023" y="952897"/>
                </a:lnTo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171105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0" name="Text 8"/>
          <p:cNvSpPr/>
          <p:nvPr/>
        </p:nvSpPr>
        <p:spPr>
          <a:xfrm>
            <a:off x="6261142" y="2336403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1142" y="2694087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Dispatcher allocates a rider to the order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825" y="3124002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952897"/>
                </a:lnTo>
                <a:lnTo>
                  <a:pt x="57887" y="952897"/>
                </a:lnTo>
                <a:arcTo wR="57887" hR="5788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825" y="3124002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4" name="Text 12"/>
          <p:cNvSpPr/>
          <p:nvPr/>
        </p:nvSpPr>
        <p:spPr>
          <a:xfrm>
            <a:off x="833119" y="3289300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Pick Up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119" y="3646984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Rider confirms package collection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5848" y="3124002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895008"/>
                </a:lnTo>
                <a:arcTo wR="57887" hR="57888" stAng="0" swAng="5400000"/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124002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3124002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1142" y="3289300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Deliver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1142" y="3646984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 confirmed and audit trail closed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1475" y="4351933"/>
            <a:ext cx="3485071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4250" dirty="0"/>
          </a:p>
        </p:txBody>
      </p:sp>
      <p:sp>
        <p:nvSpPr>
          <p:cNvPr id="22" name="Text 20"/>
          <p:cNvSpPr/>
          <p:nvPr/>
        </p:nvSpPr>
        <p:spPr>
          <a:xfrm>
            <a:off x="661475" y="5104408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1475" y="5462091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Retailer, Dispatcher, Rider — each with a dedicated interface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53213" y="4351933"/>
            <a:ext cx="3485170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4250" dirty="0"/>
          </a:p>
        </p:txBody>
      </p:sp>
      <p:sp>
        <p:nvSpPr>
          <p:cNvPr id="25" name="Text 23"/>
          <p:cNvSpPr/>
          <p:nvPr/>
        </p:nvSpPr>
        <p:spPr>
          <a:xfrm>
            <a:off x="4353213" y="5104408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Lifecycle States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53213" y="5462091"/>
            <a:ext cx="348517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linear state machine enforced at the API layer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5050" y="4351933"/>
            <a:ext cx="3485170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4250" dirty="0"/>
          </a:p>
        </p:txBody>
      </p:sp>
      <p:sp>
        <p:nvSpPr>
          <p:cNvPr id="28" name="Text 26"/>
          <p:cNvSpPr/>
          <p:nvPr/>
        </p:nvSpPr>
        <p:spPr>
          <a:xfrm>
            <a:off x="8045050" y="5104408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Tiers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5050" y="5462091"/>
            <a:ext cx="348517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frontend, Express API, Supabase persistence</a:t>
            </a:r>
            <a:endParaRPr lang="en-US" sz="13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2DEACB-0D5B-0CEB-34BE-4B2699154EEF}"/>
              </a:ext>
            </a:extLst>
          </p:cNvPr>
          <p:cNvSpPr txBox="1"/>
          <p:nvPr/>
        </p:nvSpPr>
        <p:spPr>
          <a:xfrm>
            <a:off x="2634343" y="500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378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7659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Unstructured Logistics &amp; Blind Deliveries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2338090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2577802"/>
            <a:ext cx="206667" cy="165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731" y="2544663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Small retailers lack visibility and accountability over their delivery operations.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85418"/>
            <a:ext cx="3512653" cy="25786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2017" y="3369766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Informal Coordination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22017" y="3727450"/>
            <a:ext cx="3067767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Operations rely entirely on unstructured WhatsApp group chats, phone calls, and manual notes. There is no single source of truth for order status, rider assignments, or delivery confirmations — every update lives in a chat thread or someone's memory.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3185418"/>
            <a:ext cx="3512752" cy="25786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99964" y="3369766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Blind Status Visibility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599964" y="3727450"/>
            <a:ext cx="306786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Retailers cannot confirm whether an order is pending, picked up, or delayed without stopping work to call riders directly. This creates constant interruptions and leaves customers without reliable delivery estimates.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7468" y="3185418"/>
            <a:ext cx="3512653" cy="25786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78010" y="3369766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Lack of Accountability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278010" y="3727450"/>
            <a:ext cx="3067767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 calls and chat threads leave no systematic audit trail of who was assigned, when package handover occurred, or whether a delivery was completed. Disputes cannot be resolved with evidence, and performance cannot be measured.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7107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970657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Reflex — Unified Delivery Workflow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61475" y="1470323"/>
            <a:ext cx="10868745" cy="469205"/>
          </a:xfrm>
          <a:prstGeom prst="roundRect">
            <a:avLst>
              <a:gd name="adj" fmla="val 12029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14" y="1628775"/>
            <a:ext cx="167973" cy="134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8126" y="1612999"/>
            <a:ext cx="10907340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Reflex consolidates the delivery lifecycle into a structured, role-aware system.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64739" y="2062361"/>
            <a:ext cx="5463939" cy="4288433"/>
          </a:xfrm>
          <a:prstGeom prst="roundRect">
            <a:avLst>
              <a:gd name="adj" fmla="val 225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99078" y="2171502"/>
            <a:ext cx="5195261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Linear State Lifecycle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9078" y="2490589"/>
            <a:ext cx="5195261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state progression enforcing a single, unambiguous path through every order's lifecycle: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78" y="3002955"/>
            <a:ext cx="671893" cy="8062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80108" y="3137297"/>
            <a:ext cx="4414231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78" y="3809206"/>
            <a:ext cx="671893" cy="8062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0108" y="3943548"/>
            <a:ext cx="4414231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Assign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078" y="4615458"/>
            <a:ext cx="671893" cy="8062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80108" y="4749800"/>
            <a:ext cx="4414231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Pick Up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78" y="5421709"/>
            <a:ext cx="671893" cy="8062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80108" y="5556052"/>
            <a:ext cx="4414231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Deliver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266103" y="2171502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Role-Aware Workflows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266103" y="2490589"/>
            <a:ext cx="5270467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interfaces are tailored for each actor in the delivery chain. Authentication automatically routes accounts to their correct system views and permissions — no manual configuration required.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6266103" y="3197721"/>
            <a:ext cx="2580615" cy="990005"/>
          </a:xfrm>
          <a:prstGeom prst="roundRect">
            <a:avLst>
              <a:gd name="adj" fmla="val 570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406791" y="3338413"/>
            <a:ext cx="2299238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Retailer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406791" y="3657501"/>
            <a:ext cx="2299238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 intake form and status tracking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8955856" y="3197721"/>
            <a:ext cx="2580714" cy="990005"/>
          </a:xfrm>
          <a:prstGeom prst="roundRect">
            <a:avLst>
              <a:gd name="adj" fmla="val 570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9096544" y="3338413"/>
            <a:ext cx="229933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Dispatcher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9096544" y="3657501"/>
            <a:ext cx="2299337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Management queue and rider assignment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266103" y="4296866"/>
            <a:ext cx="5270467" cy="795238"/>
          </a:xfrm>
          <a:prstGeom prst="roundRect">
            <a:avLst>
              <a:gd name="adj" fmla="val 70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06791" y="4437559"/>
            <a:ext cx="4989090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Rider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6791" y="4756646"/>
            <a:ext cx="4989090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delivery view and state updates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266103" y="5214938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Authenticated Sessions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266103" y="5534025"/>
            <a:ext cx="5270467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user login automatically resolves each account to its role profile, enforcing correct permissions and preventing cross-role access at the system level.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4804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017488"/>
            <a:ext cx="10868745" cy="374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Decoupled 3-Tier Architecture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61475" y="1595834"/>
            <a:ext cx="10868745" cy="561479"/>
          </a:xfrm>
          <a:prstGeom prst="roundRect">
            <a:avLst>
              <a:gd name="adj" fmla="val 11212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91" y="1790303"/>
            <a:ext cx="187320" cy="1498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8428" y="1769070"/>
            <a:ext cx="10841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Clean separation of concerns between user interface, business logic, and database layer.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2310110"/>
            <a:ext cx="1811391" cy="1072455"/>
          </a:xfrm>
          <a:prstGeom prst="roundRect">
            <a:avLst>
              <a:gd name="adj" fmla="val 58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1753" y="2740918"/>
            <a:ext cx="210735" cy="2107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22683" y="2459930"/>
            <a:ext cx="8757721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Persistence &amp; Auth — Supabase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2622683" y="2775545"/>
            <a:ext cx="87577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Relational database storage coupled with identity management for backend user profile mapping. Supabase handles authentication tokens and resolves user accounts to their role profiles (e.g., R001 / Kevin / RIDER).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547775" y="3374628"/>
            <a:ext cx="8907537" cy="952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2" name="Shape 8"/>
          <p:cNvSpPr/>
          <p:nvPr/>
        </p:nvSpPr>
        <p:spPr>
          <a:xfrm>
            <a:off x="661475" y="3457476"/>
            <a:ext cx="3622882" cy="1301055"/>
          </a:xfrm>
          <a:prstGeom prst="roundRect">
            <a:avLst>
              <a:gd name="adj" fmla="val 483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67499" y="4002584"/>
            <a:ext cx="210735" cy="2107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34173" y="3607296"/>
            <a:ext cx="694623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Layer — Express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434173" y="3922911"/>
            <a:ext cx="69462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machine enforcement, route validation, and business logic execution. The Express backend is the authoritative gatekeeper — it rejects invalid state transitions with HTTP 400 and ensures no order can skip lifecycle stages.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359265" y="4750594"/>
            <a:ext cx="7096047" cy="952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7" name="Shape 12"/>
          <p:cNvSpPr/>
          <p:nvPr/>
        </p:nvSpPr>
        <p:spPr>
          <a:xfrm>
            <a:off x="661475" y="4833441"/>
            <a:ext cx="5434373" cy="1529655"/>
          </a:xfrm>
          <a:prstGeom prst="roundRect">
            <a:avLst>
              <a:gd name="adj" fmla="val 411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3244" y="5492849"/>
            <a:ext cx="210735" cy="2107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45664" y="4983262"/>
            <a:ext cx="513474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 Layer — React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245664" y="5298877"/>
            <a:ext cx="5134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Role-specific UI components and client-side view routing. Each authenticated session renders the correct dashboard — dispatcher management queue, retailer order intake, or rider delivery view — based on the resolved role profile.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8103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Evidence &amp;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22958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Verification &amp; Workflow Testing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61475" y="1572518"/>
            <a:ext cx="10868745" cy="412155"/>
          </a:xfrm>
          <a:prstGeom prst="roundRect">
            <a:avLst>
              <a:gd name="adj" fmla="val 12640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95" y="1708547"/>
            <a:ext cx="154976" cy="124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4491" y="1696442"/>
            <a:ext cx="109512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Core delivery state transitions, invalid route rejections, and role mappings are fully verified.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89249"/>
          <a:ext cx="9143771" cy="914400"/>
        </p:xfrm>
        <a:graphic>
          <a:graphicData uri="http://schemas.openxmlformats.org/drawingml/2006/table">
            <a:tbl>
              <a:tblPr/>
              <a:tblGrid>
                <a:gridCol w="304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0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Domain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Execution &amp; Result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Status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Happy Path Workflow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End-to-end execution verified: Create → Assign → Pick Up → Deliver.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PASSED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State Guarding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Invalid transitions (e.g., UNASSIGNED → DELIVERED) rejected by Express backend with HTTP 400.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PASSED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Rider Profile Mapping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Kevin account authenticates and correctly resolves to profile R001 / Kevin / RIDER.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PASSED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Role Dashboard Routing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Dispatcher account displays management queue; Retailer account loads order intake form.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PASSED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671199" y="4527352"/>
            <a:ext cx="15256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4/4</a:t>
            </a:r>
            <a:endParaRPr lang="en-US" sz="2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821" y="3752155"/>
            <a:ext cx="1860603" cy="18606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5736729"/>
            <a:ext cx="354539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Domains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61475" y="5986264"/>
            <a:ext cx="354539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four verification domains passed without exception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5332874" y="4527352"/>
            <a:ext cx="15256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2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497" y="3752155"/>
            <a:ext cx="1860603" cy="18606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23150" y="5736729"/>
            <a:ext cx="354539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Pass Rate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323150" y="5986264"/>
            <a:ext cx="354539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failed or skipped test cases in the current verification suite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8994550" y="4527352"/>
            <a:ext cx="15256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1/1</a:t>
            </a:r>
            <a:endParaRPr lang="en-US" sz="2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172" y="3752155"/>
            <a:ext cx="1860603" cy="186064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84826" y="5736729"/>
            <a:ext cx="354539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Happy Path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7984826" y="5986264"/>
            <a:ext cx="354539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end-to-end lifecycle verified from Create through Deliver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13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Known Trade-offs &amp; Current Scope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420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Intentional Engineering Trade-offs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2045692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2285405"/>
            <a:ext cx="206667" cy="165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731" y="2252266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functional core and authentication are working, with clear boundaries on current MVP scope.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893020"/>
          <a:ext cx="9143771" cy="914400"/>
        </p:xfrm>
        <a:graphic>
          <a:graphicData uri="http://schemas.openxmlformats.org/drawingml/2006/table">
            <a:tbl>
              <a:tblPr/>
              <a:tblGrid>
                <a:gridCol w="2391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Area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Current Prototype State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Production Target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Permissions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Basic role identification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Fine-grained Role-Based Access Control (RBAC)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Rider Management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Fixed rider pool for testing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Dynamic rider onboarding &amp; live status tracking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 Updates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On-demand / Short polling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Full real-time WebSockets or Server-Sent Events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ID Generation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Simple sequence identifiers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Cryptographically secure UUIDs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35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Hardening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Functional MVP testing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Comprehensive error logging, rate limiting, and monitoring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5555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Roadmap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948829"/>
            <a:ext cx="10868745" cy="34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 Readiness &amp; Expansion Roadmap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661475" y="1461294"/>
            <a:ext cx="10868745" cy="484088"/>
          </a:xfrm>
          <a:prstGeom prst="roundRect">
            <a:avLst>
              <a:gd name="adj" fmla="val 11883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93" y="1622425"/>
            <a:ext cx="171148" cy="1369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60" y="1608931"/>
            <a:ext cx="10896427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Transforming the working prototype into an enterprise-ready logistics platform.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1475" y="2072977"/>
            <a:ext cx="308166" cy="30817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2869" y="2098675"/>
            <a:ext cx="205378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83045" y="2120007"/>
            <a:ext cx="10447175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Role-Based Authorization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83045" y="2401987"/>
            <a:ext cx="10447175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fine-grained RBAC across all API endpoints, ensuring each role can only access and mutate the resources appropriate to its function.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1475" y="2829024"/>
            <a:ext cx="308166" cy="30817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2869" y="2854722"/>
            <a:ext cx="205378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83045" y="2876054"/>
            <a:ext cx="10447175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Rider Management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83045" y="3158034"/>
            <a:ext cx="10447175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dynamic onboarding and fleet availability management, replacing the fixed test pool with a live, queryable rider registry.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1475" y="3585071"/>
            <a:ext cx="308166" cy="30817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2869" y="3610769"/>
            <a:ext cx="205378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83045" y="3632101"/>
            <a:ext cx="10447175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Updates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83045" y="3914080"/>
            <a:ext cx="10447175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status updates to WebSockets for instant UI sync, eliminating polling latency and delivering live order state changes to all connected clients.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61475" y="4341118"/>
            <a:ext cx="308166" cy="30817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2869" y="4366816"/>
            <a:ext cx="205378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83045" y="4388148"/>
            <a:ext cx="10447175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QR Code Scanning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83045" y="4670127"/>
            <a:ext cx="10447175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camera-based barcode verification for proof of delivery, creating a tamper-evident handover record at the point of package transfer.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61475" y="5097165"/>
            <a:ext cx="308166" cy="30817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2869" y="5122863"/>
            <a:ext cx="205378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83045" y="5144195"/>
            <a:ext cx="10447175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Concurrency Control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83045" y="5426174"/>
            <a:ext cx="10447175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optimistic database locking for simultaneous dispatching, preventing race conditions when multiple dispatchers act on the same order.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61475" y="5853212"/>
            <a:ext cx="308166" cy="30817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2869" y="5878909"/>
            <a:ext cx="205378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83045" y="5900241"/>
            <a:ext cx="10447175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 Hardening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83045" y="6182221"/>
            <a:ext cx="10447175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centralized error logging, rate limiting, and health monitoring to meet enterprise reliability and observability standards.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908</Words>
  <Application>Microsoft Office PowerPoint</Application>
  <PresentationFormat>Widescreen</PresentationFormat>
  <Paragraphs>132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Roboto</vt:lpstr>
      <vt:lpstr>Raleway</vt:lpstr>
      <vt:lpstr>Arial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Morgan Heritage</cp:lastModifiedBy>
  <cp:revision>2</cp:revision>
  <dcterms:created xsi:type="dcterms:W3CDTF">2026-08-28T14:19:38Z</dcterms:created>
  <dcterms:modified xsi:type="dcterms:W3CDTF">2026-08-29T03:25:25Z</dcterms:modified>
</cp:coreProperties>
</file>